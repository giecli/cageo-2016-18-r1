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专家好。这一页汇报物理在环仿真模型体系的构建。左侧是系统的六级超结构梯级拓扑：从深井泵取热、井筒换热、分层储热、板式换热，到热泵与吸收式机组，再到冷塔与末端负荷，最后经回灌井闭环。这条链路上的每一段都有对应的轻量稳态代数模型支撑，不是示意图。同时标注了决策变量：8 个 0-1 拓扑开关 z 与 7 维容量参数 dv，这正是后续优化问题的搜索空间。时序驱动方面，我们没有用简单的度日法，而是用 k-medoids 对全年 8760 小时做典型日聚类，并以冬季峰值日锚定，确保极端工况不被平均掉。中间是模型库的公式墙：井筒采用 Ramey 解析模型，与 GEOPHIRES 同源；储热采用 AixLib 十二节点分层水箱，带浮力再分层机制；换热采用 ε-NTU 模型，并施加 5 K 最小端差作为品位守卫；冷热源用 EquationFit 对厂家 Catalog 做映射。下方的参数配置表是实际 config 文件的节选，每一项参数都有出处、可复现。右侧两张图回应「物理在环」四个字：上图是管网压降二次律与泵特性曲线的联合求解，工作点（11.4 m³/h、18.8 m）是解出来的而不是人为假设的；下图是冷塔与吸收式机组共 60 台的 Catalog 拟合散点，R² 全部大于 0.95，残差落在 ±5% 带内。一句话总结：模型不凭空虚设，全部依托实测气象与厂家真实数据交叉标定。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这一页讲如何在上面这套物理模型之上做优化。由于目标函数要嵌套全年 8760 小时仿真，完全黑盒、非凸、不可导，传统梯度类算法全部失效，因此我们构造了双层协同架构：上层 Here-and-Now 决定拓扑 z 与容量 dv，属于设计层；下层 Wait-and-See 在给定配置下求解 8760 小时的最优运行调度 cv，属于运行层；两层交替迭代，直到年化成本变化小于 10 的负 4 次方才收敛。约束非常严苛：供热保证率不低于 0.95；失负荷超过 1 瓦直接施加 10 的 12 次方罚项，等效于硬约束。求解策略是 PSO 加 GPS：粒子群负责全局播种，在离散拓扑域中做探索；广义模式搜索负责局部精修，把解打磨到收敛。右上角的双对数曲线清楚展示了两段式收敛过程，总函数评估约一万一千次。结果有三点值得强调：第一，最优年化成本约 16.2 万欧元每年，比规则基线下降 23.4%；第二，也是最反直觉的一点——我们没有预设任何设备配置，优化器算完真实经济账后，自发选配了 275 立方米蓄热，就是 V-cost 曲线上红圈标注的最低点；第三，这台蓄热在故障工况下表现出色：24 小时电网故障窗口内穿越放电 7007 千瓦时，维持供热保证率 0.95 不变，全年系统 COP 均值约 4.6。总结一句话：不人为预设设备，纯靠经济性寻优，得到这个反直觉的最优配置。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37160" y="109728"/>
            <a:ext cx="8869680" cy="566928"/>
          </a:xfrm>
          <a:prstGeom prst="rect">
            <a:avLst/>
          </a:prstGeom>
          <a:solidFill>
            <a:srgbClr val="12263A"/>
          </a:solidFill>
          <a:ln/>
          <a:effectLst>
            <a:outerShdw sx="100000" sy="100000" kx="0" ky="0" algn="bl" rotWithShape="0" blurRad="63500" dist="25400" dir="5400000">
              <a:srgbClr val="93A9B8">
                <a:alpha val="38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137160" y="109728"/>
            <a:ext cx="82296" cy="566928"/>
          </a:xfrm>
          <a:prstGeom prst="rect">
            <a:avLst/>
          </a:prstGeom>
          <a:solidFill>
            <a:srgbClr val="D95D39"/>
          </a:solidFill>
          <a:ln/>
        </p:spPr>
      </p:sp>
      <p:sp>
        <p:nvSpPr>
          <p:cNvPr id="5" name="Text 2"/>
          <p:cNvSpPr/>
          <p:nvPr/>
        </p:nvSpPr>
        <p:spPr>
          <a:xfrm>
            <a:off x="329184" y="128016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spc="150" kern="0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全工况物理在环仿真模型构建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338328" y="4297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9CF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从真实气象驱动到多系统耦合 · 六级超结构梯级拓扑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172200" y="256032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6172200" y="2560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8760 h 全时序驱动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7680960" y="256032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D95D39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0" y="2560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1000+ 台设备样本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37160" y="786384"/>
            <a:ext cx="2697480" cy="371246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C"/>
            </a:solidFill>
            <a:prstDash val="solid"/>
          </a:ln>
          <a:effectLst>
            <a:outerShdw sx="100000" sy="100000" kx="0" ky="0" algn="bl" rotWithShape="0" blurRad="806450000" dist="322580000" dir="324000000000">
              <a:srgbClr val="93A9B8">
                <a:alpha val="380000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37160" y="786384"/>
            <a:ext cx="54864" cy="37124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Shape 10"/>
          <p:cNvSpPr/>
          <p:nvPr/>
        </p:nvSpPr>
        <p:spPr>
          <a:xfrm>
            <a:off x="265176" y="905256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411480" y="8321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六级超结构梯级拓扑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176272" y="859536"/>
            <a:ext cx="548640" cy="182880"/>
          </a:xfrm>
          <a:prstGeom prst="roundRect">
            <a:avLst>
              <a:gd name="adj" fmla="val 20000"/>
            </a:avLst>
          </a:prstGeom>
          <a:solidFill>
            <a:srgbClr val="EAF1F5"/>
          </a:solidFill>
          <a:ln/>
        </p:spPr>
      </p:sp>
      <p:sp>
        <p:nvSpPr>
          <p:cNvPr id="16" name="Text 13"/>
          <p:cNvSpPr/>
          <p:nvPr/>
        </p:nvSpPr>
        <p:spPr>
          <a:xfrm>
            <a:off x="2176272" y="8595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C72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L1 物理在环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265176" y="1170432"/>
            <a:ext cx="1810512" cy="292608"/>
          </a:xfrm>
          <a:prstGeom prst="rect">
            <a:avLst/>
          </a:prstGeom>
          <a:solidFill>
            <a:srgbClr val="EAF1F5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8328" y="1170432"/>
            <a:ext cx="17373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12263A"/>
                </a:solidFill>
              </a:rPr>
              <a:t>① 深井泵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1C7293"/>
                </a:solidFill>
              </a:rPr>
              <a:t>变频取热 · 回灌驱动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1170432" y="1472184"/>
            <a:ext cx="0" cy="105156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265176" y="1586484"/>
            <a:ext cx="1810512" cy="292608"/>
          </a:xfrm>
          <a:prstGeom prst="rect">
            <a:avLst/>
          </a:prstGeom>
          <a:solidFill>
            <a:srgbClr val="EAF1F5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8328" y="1586484"/>
            <a:ext cx="17373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12263A"/>
                </a:solidFill>
              </a:rPr>
              <a:t>② 井筒换热器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1C7293"/>
                </a:solidFill>
              </a:rPr>
              <a:t>Ramey 解析模型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1170432" y="1888236"/>
            <a:ext cx="0" cy="105156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265176" y="2002536"/>
            <a:ext cx="1810512" cy="292608"/>
          </a:xfrm>
          <a:prstGeom prst="rect">
            <a:avLst/>
          </a:prstGeom>
          <a:solidFill>
            <a:srgbClr val="EAF1F5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38328" y="2002536"/>
            <a:ext cx="17373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12263A"/>
                </a:solidFill>
              </a:rPr>
              <a:t>③ 分层储热水箱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1C7293"/>
                </a:solidFill>
              </a:rPr>
              <a:t>AixLib · 12 节点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1170432" y="2304288"/>
            <a:ext cx="0" cy="105156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265176" y="2418588"/>
            <a:ext cx="1810512" cy="292608"/>
          </a:xfrm>
          <a:prstGeom prst="rect">
            <a:avLst/>
          </a:prstGeom>
          <a:solidFill>
            <a:srgbClr val="EAF1F5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8328" y="2418588"/>
            <a:ext cx="17373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12263A"/>
                </a:solidFill>
              </a:rPr>
              <a:t>④ 板式换热器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1C7293"/>
                </a:solidFill>
              </a:rPr>
              <a:t>ε-NTU · ΔTmin = 5 K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1170432" y="2720340"/>
            <a:ext cx="0" cy="105156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265176" y="2834640"/>
            <a:ext cx="1810512" cy="292608"/>
          </a:xfrm>
          <a:prstGeom prst="rect">
            <a:avLst/>
          </a:prstGeom>
          <a:solidFill>
            <a:srgbClr val="EAF1F5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38328" y="2834640"/>
            <a:ext cx="17373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12263A"/>
                </a:solidFill>
              </a:rPr>
              <a:t>⑤ 热泵 / 吸收式机组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1C7293"/>
                </a:solidFill>
              </a:rPr>
              <a:t>EquationFit 映射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1170432" y="3136392"/>
            <a:ext cx="0" cy="105156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265176" y="3250692"/>
            <a:ext cx="1810512" cy="292608"/>
          </a:xfrm>
          <a:prstGeom prst="rect">
            <a:avLst/>
          </a:prstGeom>
          <a:solidFill>
            <a:srgbClr val="EAF1F5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38328" y="3250692"/>
            <a:ext cx="17373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12263A"/>
                </a:solidFill>
              </a:rPr>
              <a:t>⑥ 冷塔 + 末端负荷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1C7293"/>
                </a:solidFill>
              </a:rPr>
              <a:t>Catalog 校准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2112264" y="1591056"/>
            <a:ext cx="603504" cy="402336"/>
          </a:xfrm>
          <a:prstGeom prst="roundRect">
            <a:avLst>
              <a:gd name="adj" fmla="val 11364"/>
            </a:avLst>
          </a:prstGeom>
          <a:solidFill>
            <a:srgbClr val="E8A33D"/>
          </a:solidFill>
          <a:ln/>
        </p:spPr>
      </p:sp>
      <p:sp>
        <p:nvSpPr>
          <p:cNvPr id="35" name="Text 32"/>
          <p:cNvSpPr/>
          <p:nvPr/>
        </p:nvSpPr>
        <p:spPr>
          <a:xfrm>
            <a:off x="2112264" y="1591056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2263A"/>
                </a:solidFill>
              </a:rPr>
              <a:t>z∈{0,1}⁸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00" dirty="0">
                <a:solidFill>
                  <a:srgbClr val="12263A"/>
                </a:solidFill>
              </a:rPr>
              <a:t>拓扑开关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2112264" y="2432304"/>
            <a:ext cx="603504" cy="402336"/>
          </a:xfrm>
          <a:prstGeom prst="roundRect">
            <a:avLst>
              <a:gd name="adj" fmla="val 11364"/>
            </a:avLst>
          </a:prstGeom>
          <a:solidFill>
            <a:srgbClr val="1C7293"/>
          </a:solidFill>
          <a:ln/>
        </p:spPr>
      </p:sp>
      <p:sp>
        <p:nvSpPr>
          <p:cNvPr id="37" name="Text 34"/>
          <p:cNvSpPr/>
          <p:nvPr/>
        </p:nvSpPr>
        <p:spPr>
          <a:xfrm>
            <a:off x="2112264" y="2432304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</a:rPr>
              <a:t>dv∈ℝ⁷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00" dirty="0">
                <a:solidFill>
                  <a:srgbClr val="FFFFFF"/>
                </a:solidFill>
              </a:rPr>
              <a:t>容量·工况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265176" y="3675888"/>
            <a:ext cx="2450592" cy="694944"/>
          </a:xfrm>
          <a:prstGeom prst="rect">
            <a:avLst/>
          </a:prstGeom>
          <a:solidFill>
            <a:srgbClr val="12263A"/>
          </a:solidFill>
          <a:ln/>
        </p:spPr>
      </p:sp>
      <p:sp>
        <p:nvSpPr>
          <p:cNvPr id="39" name="Text 36"/>
          <p:cNvSpPr/>
          <p:nvPr/>
        </p:nvSpPr>
        <p:spPr>
          <a:xfrm>
            <a:off x="356616" y="371246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FFFFFF"/>
                </a:solidFill>
              </a:rPr>
              <a:t>时序驱动：k-medoids 典型日聚类 (8760 h)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B9CFDD"/>
                </a:solidFill>
              </a:rPr>
              <a:t>+ 冬季峰值锚定 · 12 典型日 × 8 场景 · 1 h 步长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E8A33D"/>
                </a:solidFill>
              </a:rPr>
              <a:t>↺ 回灌井闭环 · 斜温层控制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2944368" y="786384"/>
            <a:ext cx="3063240" cy="371246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C"/>
            </a:solidFill>
            <a:prstDash val="solid"/>
          </a:ln>
          <a:effectLst>
            <a:outerShdw sx="100000" sy="100000" kx="0" ky="0" algn="bl" rotWithShape="0" blurRad="10241915000000" dist="4096766000000" dir="19440000000000000">
              <a:srgbClr val="93A9B8">
                <a:alpha val="38000000000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2944368" y="786384"/>
            <a:ext cx="54864" cy="3712464"/>
          </a:xfrm>
          <a:prstGeom prst="rect">
            <a:avLst/>
          </a:prstGeom>
          <a:solidFill>
            <a:srgbClr val="D95D39"/>
          </a:solidFill>
          <a:ln/>
        </p:spPr>
      </p:sp>
      <p:sp>
        <p:nvSpPr>
          <p:cNvPr id="42" name="Shape 39"/>
          <p:cNvSpPr/>
          <p:nvPr/>
        </p:nvSpPr>
        <p:spPr>
          <a:xfrm>
            <a:off x="3072384" y="905256"/>
            <a:ext cx="91440" cy="91440"/>
          </a:xfrm>
          <a:prstGeom prst="ellipse">
            <a:avLst/>
          </a:prstGeom>
          <a:solidFill>
            <a:srgbClr val="D95D39"/>
          </a:solidFill>
          <a:ln/>
        </p:spPr>
      </p:sp>
      <p:sp>
        <p:nvSpPr>
          <p:cNvPr id="43" name="Text 40"/>
          <p:cNvSpPr/>
          <p:nvPr/>
        </p:nvSpPr>
        <p:spPr>
          <a:xfrm>
            <a:off x="3218688" y="83210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轻量稳态代数模型库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5349240" y="859536"/>
            <a:ext cx="548640" cy="182880"/>
          </a:xfrm>
          <a:prstGeom prst="roundRect">
            <a:avLst>
              <a:gd name="adj" fmla="val 20000"/>
            </a:avLst>
          </a:prstGeom>
          <a:solidFill>
            <a:srgbClr val="EAF1F5"/>
          </a:solidFill>
          <a:ln/>
        </p:spPr>
      </p:sp>
      <p:sp>
        <p:nvSpPr>
          <p:cNvPr id="45" name="Text 42"/>
          <p:cNvSpPr/>
          <p:nvPr/>
        </p:nvSpPr>
        <p:spPr>
          <a:xfrm>
            <a:off x="5349240" y="8595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C72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秒级求解</a:t>
            </a:r>
            <a:endParaRPr lang="en-US" sz="650" dirty="0"/>
          </a:p>
        </p:txBody>
      </p:sp>
      <p:sp>
        <p:nvSpPr>
          <p:cNvPr id="46" name="Shape 43"/>
          <p:cNvSpPr/>
          <p:nvPr/>
        </p:nvSpPr>
        <p:spPr>
          <a:xfrm>
            <a:off x="3072384" y="1152144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47" name="Text 44"/>
          <p:cNvSpPr/>
          <p:nvPr/>
        </p:nvSpPr>
        <p:spPr>
          <a:xfrm>
            <a:off x="3072384" y="11521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井筒 · Ramey</a:t>
            </a:r>
            <a:endParaRPr lang="en-US" sz="650" dirty="0"/>
          </a:p>
        </p:txBody>
      </p:sp>
      <p:sp>
        <p:nvSpPr>
          <p:cNvPr id="48" name="Text 45"/>
          <p:cNvSpPr/>
          <p:nvPr/>
        </p:nvSpPr>
        <p:spPr>
          <a:xfrm>
            <a:off x="4041648" y="1170432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A71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GEOPHIRES 同源 · 瞬态热阻解析</a:t>
            </a:r>
            <a:endParaRPr lang="en-US" sz="650" dirty="0"/>
          </a:p>
        </p:txBody>
      </p:sp>
      <p:sp>
        <p:nvSpPr>
          <p:cNvPr id="49" name="Text 46"/>
          <p:cNvSpPr/>
          <p:nvPr/>
        </p:nvSpPr>
        <p:spPr>
          <a:xfrm>
            <a:off x="3072384" y="1362456"/>
            <a:ext cx="280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T_w(z,t) = T_g(z) + q′·R′(z,t)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072384" y="163677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51" name="Text 48"/>
          <p:cNvSpPr/>
          <p:nvPr/>
        </p:nvSpPr>
        <p:spPr>
          <a:xfrm>
            <a:off x="3072384" y="16367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储热 · AixLib</a:t>
            </a:r>
            <a:endParaRPr lang="en-US" sz="650" dirty="0"/>
          </a:p>
        </p:txBody>
      </p:sp>
      <p:sp>
        <p:nvSpPr>
          <p:cNvPr id="52" name="Text 49"/>
          <p:cNvSpPr/>
          <p:nvPr/>
        </p:nvSpPr>
        <p:spPr>
          <a:xfrm>
            <a:off x="4041648" y="165506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A71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 节点分层 · 浮力再分层</a:t>
            </a:r>
            <a:endParaRPr lang="en-US" sz="650" dirty="0"/>
          </a:p>
        </p:txBody>
      </p:sp>
      <p:sp>
        <p:nvSpPr>
          <p:cNvPr id="53" name="Text 50"/>
          <p:cNvSpPr/>
          <p:nvPr/>
        </p:nvSpPr>
        <p:spPr>
          <a:xfrm>
            <a:off x="3072384" y="1847088"/>
            <a:ext cx="280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ρc_p·V_i·dT_i/dt = Σ ṁ_j·c_p(T_j−T_i) + K_i(T_amb−T_i)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3072384" y="2121408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55" name="Text 52"/>
          <p:cNvSpPr/>
          <p:nvPr/>
        </p:nvSpPr>
        <p:spPr>
          <a:xfrm>
            <a:off x="3072384" y="21214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换热 · ε-NTU</a:t>
            </a:r>
            <a:endParaRPr lang="en-US" sz="650" dirty="0"/>
          </a:p>
        </p:txBody>
      </p:sp>
      <p:sp>
        <p:nvSpPr>
          <p:cNvPr id="56" name="Text 53"/>
          <p:cNvSpPr/>
          <p:nvPr/>
        </p:nvSpPr>
        <p:spPr>
          <a:xfrm>
            <a:off x="4041648" y="2139696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A71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 K 最小端差 → 品位守卫</a:t>
            </a:r>
            <a:endParaRPr lang="en-US" sz="650" dirty="0"/>
          </a:p>
        </p:txBody>
      </p:sp>
      <p:sp>
        <p:nvSpPr>
          <p:cNvPr id="57" name="Text 54"/>
          <p:cNvSpPr/>
          <p:nvPr/>
        </p:nvSpPr>
        <p:spPr>
          <a:xfrm>
            <a:off x="3072384" y="2331720"/>
            <a:ext cx="280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= ε·C_min·(T_h,i − T_c,i),  ε = f(NTU, C_r)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3072384" y="2606040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59" name="Text 56"/>
          <p:cNvSpPr/>
          <p:nvPr/>
        </p:nvSpPr>
        <p:spPr>
          <a:xfrm>
            <a:off x="3072384" y="2606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冷热源 · EquationFit</a:t>
            </a:r>
            <a:endParaRPr lang="en-US" sz="650" dirty="0"/>
          </a:p>
        </p:txBody>
      </p:sp>
      <p:sp>
        <p:nvSpPr>
          <p:cNvPr id="60" name="Text 57"/>
          <p:cNvSpPr/>
          <p:nvPr/>
        </p:nvSpPr>
        <p:spPr>
          <a:xfrm>
            <a:off x="4041648" y="2624328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A71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厂家 Catalog 最小二乘映射</a:t>
            </a:r>
            <a:endParaRPr lang="en-US" sz="650" dirty="0"/>
          </a:p>
        </p:txBody>
      </p:sp>
      <p:sp>
        <p:nvSpPr>
          <p:cNvPr id="61" name="Text 58"/>
          <p:cNvSpPr/>
          <p:nvPr/>
        </p:nvSpPr>
        <p:spPr>
          <a:xfrm>
            <a:off x="3072384" y="2816352"/>
            <a:ext cx="280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Q_cap / COP = Σ c_i·T_wb^i·T_chw^j + c_0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3072384" y="3108960"/>
            <a:ext cx="2807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B3C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⚙ 设备参数配置表 · config/hvac-storage-system（节选）</a:t>
            </a:r>
            <a:endParaRPr lang="en-US" sz="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72384" y="3291840"/>
          <a:ext cx="2807208" cy="914400"/>
        </p:xfrm>
        <a:graphic>
          <a:graphicData uri="http://schemas.openxmlformats.org/drawingml/2006/table">
            <a:tbl>
              <a:tblPr/>
              <a:tblGrid>
                <a:gridCol w="713232"/>
                <a:gridCol w="868680"/>
                <a:gridCol w="822960"/>
                <a:gridCol w="402336"/>
              </a:tblGrid>
              <a:tr h="135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模块</a:t>
                      </a:r>
                      <a:endParaRPr lang="en-US" sz="6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关键参数</a:t>
                      </a:r>
                      <a:endParaRPr lang="en-US" sz="6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取值</a:t>
                      </a:r>
                      <a:endParaRPr lang="en-US" sz="6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单位</a:t>
                      </a:r>
                      <a:endParaRPr lang="en-US" sz="6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0B3C5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井筒 Ramey</a:t>
                      </a:r>
                      <a:endParaRPr lang="en-US" sz="6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226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井深 × 井数</a:t>
                      </a:r>
                      <a:endParaRPr lang="en-US" sz="6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226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2000 × 6</a:t>
                      </a:r>
                      <a:endParaRPr lang="en-US" sz="6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226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m·口</a:t>
                      </a:r>
                      <a:endParaRPr lang="en-US" sz="6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0B3C5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循环工质</a:t>
                      </a:r>
                      <a:endParaRPr lang="en-US" sz="6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226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额定流量</a:t>
                      </a:r>
                      <a:endParaRPr lang="en-US" sz="6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226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28.5</a:t>
                      </a:r>
                      <a:endParaRPr lang="en-US" sz="6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226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m³/h</a:t>
                      </a:r>
                      <a:endParaRPr lang="en-US" sz="6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0B3C5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分层水箱</a:t>
                      </a:r>
                      <a:endParaRPr lang="en-US" sz="6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226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节点 / V 域</a:t>
                      </a:r>
                      <a:endParaRPr lang="en-US" sz="6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226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12 / 120–400</a:t>
                      </a:r>
                      <a:endParaRPr lang="en-US" sz="6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226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–·m³</a:t>
                      </a:r>
                      <a:endParaRPr lang="en-US" sz="6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0B3C5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板换 ε-NTU</a:t>
                      </a:r>
                      <a:endParaRPr lang="en-US" sz="6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226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最小端差</a:t>
                      </a:r>
                      <a:endParaRPr lang="en-US" sz="6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226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5.0</a:t>
                      </a:r>
                      <a:endParaRPr lang="en-US" sz="6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226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K</a:t>
                      </a:r>
                      <a:endParaRPr lang="en-US" sz="6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0B3C5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热泵机组</a:t>
                      </a:r>
                      <a:endParaRPr lang="en-US" sz="6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226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额定制热</a:t>
                      </a:r>
                      <a:endParaRPr lang="en-US" sz="6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226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850</a:t>
                      </a:r>
                      <a:endParaRPr lang="en-US" sz="6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226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kW</a:t>
                      </a:r>
                      <a:endParaRPr lang="en-US" sz="6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0B3C5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吸收式机组</a:t>
                      </a:r>
                      <a:endParaRPr lang="en-US" sz="6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226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驱动热源温度</a:t>
                      </a:r>
                      <a:endParaRPr lang="en-US" sz="6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226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≥ 90</a:t>
                      </a:r>
                      <a:endParaRPr lang="en-US" sz="6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226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°C</a:t>
                      </a:r>
                      <a:endParaRPr lang="en-US" sz="6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0B3C5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运行调度</a:t>
                      </a:r>
                      <a:endParaRPr lang="en-US" sz="6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226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步长 × 场景</a:t>
                      </a:r>
                      <a:endParaRPr lang="en-US" sz="6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226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 h × 8</a:t>
                      </a:r>
                      <a:endParaRPr lang="en-US" sz="6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226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–</a:t>
                      </a:r>
                      <a:endParaRPr lang="en-US" sz="6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Shape 60"/>
          <p:cNvSpPr/>
          <p:nvPr/>
        </p:nvSpPr>
        <p:spPr>
          <a:xfrm>
            <a:off x="6117336" y="786384"/>
            <a:ext cx="2889504" cy="371246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C"/>
            </a:solidFill>
            <a:prstDash val="solid"/>
          </a:ln>
          <a:effectLst>
            <a:outerShdw sx="100000" sy="100000" kx="0" ky="0" algn="bl" rotWithShape="0" blurRad="130072320500000000" dist="52028928200000000" dir="1.1664e+21">
              <a:srgbClr val="93A9B8">
                <a:alpha val="38000000000000000000"/>
              </a:srgbClr>
            </a:outerShdw>
          </a:effectLst>
        </p:spPr>
      </p:sp>
      <p:sp>
        <p:nvSpPr>
          <p:cNvPr id="65" name="Shape 61"/>
          <p:cNvSpPr/>
          <p:nvPr/>
        </p:nvSpPr>
        <p:spPr>
          <a:xfrm>
            <a:off x="6117336" y="786384"/>
            <a:ext cx="54864" cy="3712464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66" name="Shape 62"/>
          <p:cNvSpPr/>
          <p:nvPr/>
        </p:nvSpPr>
        <p:spPr>
          <a:xfrm>
            <a:off x="6245352" y="905256"/>
            <a:ext cx="91440" cy="91440"/>
          </a:xfrm>
          <a:prstGeom prst="ellipse">
            <a:avLst/>
          </a:prstGeom>
          <a:solidFill>
            <a:srgbClr val="0B3C5D"/>
          </a:solidFill>
          <a:ln/>
        </p:spPr>
      </p:sp>
      <p:sp>
        <p:nvSpPr>
          <p:cNvPr id="67" name="Text 63"/>
          <p:cNvSpPr/>
          <p:nvPr/>
        </p:nvSpPr>
        <p:spPr>
          <a:xfrm>
            <a:off x="6391656" y="832104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热-水-压耦合 &amp; 厂家校准</a:t>
            </a:r>
            <a:endParaRPr lang="en-US" sz="1100" dirty="0"/>
          </a:p>
        </p:txBody>
      </p:sp>
      <p:sp>
        <p:nvSpPr>
          <p:cNvPr id="68" name="Shape 64"/>
          <p:cNvSpPr/>
          <p:nvPr/>
        </p:nvSpPr>
        <p:spPr>
          <a:xfrm>
            <a:off x="8348472" y="859536"/>
            <a:ext cx="548640" cy="182880"/>
          </a:xfrm>
          <a:prstGeom prst="roundRect">
            <a:avLst>
              <a:gd name="adj" fmla="val 20000"/>
            </a:avLst>
          </a:prstGeom>
          <a:solidFill>
            <a:srgbClr val="EAF1F5"/>
          </a:solidFill>
          <a:ln/>
        </p:spPr>
      </p:sp>
      <p:sp>
        <p:nvSpPr>
          <p:cNvPr id="69" name="Text 65"/>
          <p:cNvSpPr/>
          <p:nvPr/>
        </p:nvSpPr>
        <p:spPr>
          <a:xfrm>
            <a:off x="8348472" y="8595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C72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L1 / L2</a:t>
            </a:r>
            <a:endParaRPr lang="en-US" sz="650" dirty="0"/>
          </a:p>
        </p:txBody>
      </p:sp>
      <p:pic>
        <p:nvPicPr>
          <p:cNvPr id="70" name="Image 0" descr="assets/pump_net_720x4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9870" y="1152144"/>
            <a:ext cx="2244436" cy="1371600"/>
          </a:xfrm>
          <a:prstGeom prst="rect">
            <a:avLst/>
          </a:prstGeom>
        </p:spPr>
      </p:pic>
      <p:sp>
        <p:nvSpPr>
          <p:cNvPr id="71" name="Text 66"/>
          <p:cNvSpPr/>
          <p:nvPr/>
        </p:nvSpPr>
        <p:spPr>
          <a:xfrm>
            <a:off x="6245352" y="256032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A71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① 泵-网工作点联合求解 — 压降二次律 × 变频泵特性（L1 物理在环）</a:t>
            </a:r>
            <a:endParaRPr lang="en-US" sz="650" dirty="0"/>
          </a:p>
        </p:txBody>
      </p:sp>
      <p:pic>
        <p:nvPicPr>
          <p:cNvPr id="72" name="Image 1" descr="assets/catalog_fit_720x44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870" y="2761488"/>
            <a:ext cx="2244436" cy="1371600"/>
          </a:xfrm>
          <a:prstGeom prst="rect">
            <a:avLst/>
          </a:prstGeom>
        </p:spPr>
      </p:pic>
      <p:sp>
        <p:nvSpPr>
          <p:cNvPr id="73" name="Text 67"/>
          <p:cNvSpPr/>
          <p:nvPr/>
        </p:nvSpPr>
        <p:spPr>
          <a:xfrm>
            <a:off x="6245352" y="416966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A71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② 冷塔 / 吸收式 Catalog 拟合散点 — 红标 R² &gt; 0.95（L2 校核）</a:t>
            </a:r>
            <a:endParaRPr lang="en-US" sz="650" dirty="0"/>
          </a:p>
        </p:txBody>
      </p:sp>
      <p:sp>
        <p:nvSpPr>
          <p:cNvPr id="74" name="Text 68"/>
          <p:cNvSpPr/>
          <p:nvPr/>
        </p:nvSpPr>
        <p:spPr>
          <a:xfrm>
            <a:off x="6245352" y="4315968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A71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60 台机组交叉验证 · </a:t>
            </a:r>
            <a:pPr indent="0" marL="0">
              <a:buNone/>
            </a:pPr>
            <a:r>
              <a:rPr lang="en-US" sz="650" b="1" dirty="0">
                <a:solidFill>
                  <a:srgbClr val="C039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残差 ±5% 带</a:t>
            </a:r>
            <a:endParaRPr lang="en-US" sz="650" dirty="0"/>
          </a:p>
        </p:txBody>
      </p:sp>
      <p:sp>
        <p:nvSpPr>
          <p:cNvPr id="75" name="Shape 69"/>
          <p:cNvSpPr/>
          <p:nvPr/>
        </p:nvSpPr>
        <p:spPr>
          <a:xfrm>
            <a:off x="137160" y="4608576"/>
            <a:ext cx="8869680" cy="402336"/>
          </a:xfrm>
          <a:prstGeom prst="rect">
            <a:avLst/>
          </a:prstGeom>
          <a:solidFill>
            <a:srgbClr val="D95D39"/>
          </a:solidFill>
          <a:ln/>
          <a:effectLst>
            <a:outerShdw sx="100000" sy="100000" kx="0" ky="0" algn="bl" rotWithShape="0" blurRad="1.65191847035e+21" dist="660767388140000000000" dir="6.9984e+25">
              <a:srgbClr val="93A9B8">
                <a:alpha val="3.8e+24"/>
              </a:srgbClr>
            </a:outerShdw>
          </a:effectLst>
        </p:spPr>
      </p:sp>
      <p:sp>
        <p:nvSpPr>
          <p:cNvPr id="76" name="Shape 70"/>
          <p:cNvSpPr/>
          <p:nvPr/>
        </p:nvSpPr>
        <p:spPr>
          <a:xfrm>
            <a:off x="137160" y="4608576"/>
            <a:ext cx="566928" cy="402336"/>
          </a:xfrm>
          <a:prstGeom prst="rect">
            <a:avLst/>
          </a:prstGeom>
          <a:solidFill>
            <a:srgbClr val="12263A"/>
          </a:solidFill>
          <a:ln/>
        </p:spPr>
      </p:sp>
      <p:sp>
        <p:nvSpPr>
          <p:cNvPr id="77" name="Text 71"/>
          <p:cNvSpPr/>
          <p:nvPr/>
        </p:nvSpPr>
        <p:spPr>
          <a:xfrm>
            <a:off x="137160" y="460857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 论</a:t>
            </a:r>
            <a:endParaRPr lang="en-US" sz="1000" dirty="0"/>
          </a:p>
        </p:txBody>
      </p:sp>
      <p:sp>
        <p:nvSpPr>
          <p:cNvPr id="78" name="Text 72"/>
          <p:cNvSpPr/>
          <p:nvPr/>
        </p:nvSpPr>
        <p:spPr>
          <a:xfrm>
            <a:off x="822960" y="4608576"/>
            <a:ext cx="809244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模型不凭空虚设 —— 依托实测气象驱动（TMY 8760 h）与 </a:t>
            </a:r>
            <a:pPr indent="0" marL="0">
              <a:buNone/>
            </a:pPr>
            <a:r>
              <a:rPr lang="en-US" sz="1050" b="1" dirty="0">
                <a:solidFill>
                  <a:srgbClr val="FFE3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1000+ 台厂家真实数据交叉标定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050" dirty="0"/>
          </a:p>
        </p:txBody>
      </p:sp>
      <p:sp>
        <p:nvSpPr>
          <p:cNvPr id="79" name="AILabel"/>
          <p:cNvSpPr txBox="1"/>
          <p:nvPr/>
        </p:nvSpPr>
        <p:spPr>
          <a:xfrm>
            <a:off x="6564000" y="45635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37160" y="109728"/>
            <a:ext cx="8869680" cy="566928"/>
          </a:xfrm>
          <a:prstGeom prst="rect">
            <a:avLst/>
          </a:prstGeom>
          <a:solidFill>
            <a:srgbClr val="12263A"/>
          </a:solidFill>
          <a:ln/>
          <a:effectLst>
            <a:outerShdw sx="100000" sy="100000" kx="0" ky="0" algn="bl" rotWithShape="0" blurRad="2.0979364573445003e+25" dist="8.391745829378e+24" dir="4.19904e+30">
              <a:srgbClr val="93A9B8">
                <a:alpha val="3.8000000000000004e+29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137160" y="109728"/>
            <a:ext cx="82296" cy="566928"/>
          </a:xfrm>
          <a:prstGeom prst="rect">
            <a:avLst/>
          </a:prstGeom>
          <a:solidFill>
            <a:srgbClr val="D95D39"/>
          </a:solidFill>
          <a:ln/>
        </p:spPr>
      </p:sp>
      <p:sp>
        <p:nvSpPr>
          <p:cNvPr id="5" name="Text 2"/>
          <p:cNvSpPr/>
          <p:nvPr/>
        </p:nvSpPr>
        <p:spPr>
          <a:xfrm>
            <a:off x="329184" y="128016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spc="150" kern="0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双层协同寻优算法与全生命周期最优解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338328" y="4297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9CF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破解黑盒仿真不可导 · 自发寻优设备配置与运行策略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199632" y="256032"/>
            <a:ext cx="1481328" cy="27432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6199632" y="25603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黑盒 · 非凸 · 不可导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7772400" y="256032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D95D39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0" y="256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C_ann ↓ 23.4%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37160" y="786384"/>
            <a:ext cx="2834640" cy="371246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C"/>
            </a:solidFill>
            <a:prstDash val="solid"/>
          </a:ln>
          <a:effectLst>
            <a:outerShdw sx="100000" sy="100000" kx="0" ky="0" algn="bl" rotWithShape="0" blurRad="2.6643793008275154e+29" dist="1.0657517203310059e+29" dir="2.519424e+35">
              <a:srgbClr val="93A9B8">
                <a:alpha val="3.8000000000000006e+34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37160" y="786384"/>
            <a:ext cx="54864" cy="3712464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3" name="Shape 10"/>
          <p:cNvSpPr/>
          <p:nvPr/>
        </p:nvSpPr>
        <p:spPr>
          <a:xfrm>
            <a:off x="265176" y="905256"/>
            <a:ext cx="91440" cy="91440"/>
          </a:xfrm>
          <a:prstGeom prst="ellipse">
            <a:avLst/>
          </a:prstGeom>
          <a:solidFill>
            <a:srgbClr val="0B3C5D"/>
          </a:solidFill>
          <a:ln/>
        </p:spPr>
      </p:sp>
      <p:sp>
        <p:nvSpPr>
          <p:cNvPr id="14" name="Text 11"/>
          <p:cNvSpPr/>
          <p:nvPr/>
        </p:nvSpPr>
        <p:spPr>
          <a:xfrm>
            <a:off x="411480" y="83210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数学模型与双层架构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313432" y="859536"/>
            <a:ext cx="548640" cy="182880"/>
          </a:xfrm>
          <a:prstGeom prst="roundRect">
            <a:avLst>
              <a:gd name="adj" fmla="val 20000"/>
            </a:avLst>
          </a:prstGeom>
          <a:solidFill>
            <a:srgbClr val="EAF1F5"/>
          </a:solidFill>
          <a:ln/>
        </p:spPr>
      </p:sp>
      <p:sp>
        <p:nvSpPr>
          <p:cNvPr id="16" name="Text 13"/>
          <p:cNvSpPr/>
          <p:nvPr/>
        </p:nvSpPr>
        <p:spPr>
          <a:xfrm>
            <a:off x="2313432" y="8595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C72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Bi-level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265176" y="1133856"/>
            <a:ext cx="2578608" cy="512064"/>
          </a:xfrm>
          <a:prstGeom prst="rect">
            <a:avLst/>
          </a:prstGeom>
          <a:solidFill>
            <a:srgbClr val="EAF1F5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8328" y="11612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  C_ann = C_op(z, dv, cv) + φ·CRF·C_inv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5A71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C_op 全工况运行费 · C_inv 初投资 · φ 年化因子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83464" y="176022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7"/>
          <p:cNvSpPr/>
          <p:nvPr/>
        </p:nvSpPr>
        <p:spPr>
          <a:xfrm>
            <a:off x="411480" y="1719072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z∈{0,1}⁸ — 设备启停 / 拓扑开关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283464" y="192938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19"/>
          <p:cNvSpPr/>
          <p:nvPr/>
        </p:nvSpPr>
        <p:spPr>
          <a:xfrm>
            <a:off x="411480" y="1888236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dv∈ℝ⁷ — 钻井数 · V · 泵型 · 额定制热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83464" y="2098548"/>
            <a:ext cx="82296" cy="82296"/>
          </a:xfrm>
          <a:prstGeom prst="ellipse">
            <a:avLst/>
          </a:prstGeom>
          <a:solidFill>
            <a:srgbClr val="0B3C5D"/>
          </a:solidFill>
          <a:ln/>
        </p:spPr>
      </p:sp>
      <p:sp>
        <p:nvSpPr>
          <p:cNvPr id="24" name="Text 21"/>
          <p:cNvSpPr/>
          <p:nvPr/>
        </p:nvSpPr>
        <p:spPr>
          <a:xfrm>
            <a:off x="411480" y="2057400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cv∈ℝ⁸⁷⁶⁰ — 逐时调度（档位 / 启停 / 流量）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265176" y="2267712"/>
            <a:ext cx="257860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3C5D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393192" y="2359152"/>
            <a:ext cx="2322576" cy="27432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27" name="Text 24"/>
          <p:cNvSpPr/>
          <p:nvPr/>
        </p:nvSpPr>
        <p:spPr>
          <a:xfrm>
            <a:off x="393192" y="2359152"/>
            <a:ext cx="232257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上层 · Here-and-Now｜拓扑 z · 容量 dv（设计层）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393192" y="2962656"/>
            <a:ext cx="2322576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Text 26"/>
          <p:cNvSpPr/>
          <p:nvPr/>
        </p:nvSpPr>
        <p:spPr>
          <a:xfrm>
            <a:off x="393192" y="2962656"/>
            <a:ext cx="232257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下层 · Wait-and-See｜8760 h 调度 cv（运行层）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886968" y="2670048"/>
            <a:ext cx="0" cy="256032"/>
          </a:xfrm>
          <a:prstGeom prst="line">
            <a:avLst/>
          </a:prstGeom>
          <a:noFill/>
          <a:ln w="19050">
            <a:solidFill>
              <a:srgbClr val="D95D39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2221992" y="2670048"/>
            <a:ext cx="0" cy="256032"/>
          </a:xfrm>
          <a:prstGeom prst="line">
            <a:avLst/>
          </a:prstGeom>
          <a:noFill/>
          <a:ln w="19050">
            <a:solidFill>
              <a:srgbClr val="D95D39"/>
            </a:solidFill>
            <a:prstDash val="solid"/>
            <a:headEnd type="triangle"/>
          </a:ln>
        </p:spPr>
      </p:sp>
      <p:sp>
        <p:nvSpPr>
          <p:cNvPr id="32" name="Text 29"/>
          <p:cNvSpPr/>
          <p:nvPr/>
        </p:nvSpPr>
        <p:spPr>
          <a:xfrm>
            <a:off x="960120" y="26700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D95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z, dv ↓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1618488" y="267004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D95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 cv, λ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265176" y="3310128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5D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⟳ 交替迭代直至收敛（ΔC &lt; 10⁻⁴ /a）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265176" y="3730752"/>
            <a:ext cx="2578608" cy="676656"/>
          </a:xfrm>
          <a:prstGeom prst="rect">
            <a:avLst/>
          </a:prstGeom>
          <a:solidFill>
            <a:srgbClr val="FBEDEA"/>
          </a:solidFill>
          <a:ln w="11430">
            <a:solidFill>
              <a:srgbClr val="C0392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38328" y="3767328"/>
            <a:ext cx="2450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750" b="1" dirty="0">
                <a:solidFill>
                  <a:srgbClr val="C0392B"/>
                </a:solidFill>
              </a:rPr>
              <a:t>硬约束（严苛可行域）</a:t>
            </a:r>
            <a:endParaRPr lang="en-US" sz="7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700" dirty="0">
                <a:solidFill>
                  <a:srgbClr val="12263A"/>
                </a:solidFill>
              </a:rPr>
              <a:t>▪ 供热保证率 ε ≥ 0.95（全 8760 h）</a:t>
            </a:r>
            <a:endParaRPr lang="en-US" sz="7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700" dirty="0">
                <a:solidFill>
                  <a:srgbClr val="12263A"/>
                </a:solidFill>
              </a:rPr>
              <a:t>▪ 失负荷 Unmet ≤ 1 W → 罚 10¹²</a:t>
            </a:r>
            <a:endParaRPr lang="en-US" sz="7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700" dirty="0">
                <a:solidFill>
                  <a:srgbClr val="12263A"/>
                </a:solidFill>
              </a:rPr>
              <a:t>▪ 非凸 · 不可导 → 黑盒求解器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3081528" y="786384"/>
            <a:ext cx="5925312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C"/>
            </a:solidFill>
            <a:prstDash val="solid"/>
          </a:ln>
          <a:effectLst>
            <a:outerShdw sx="100000" sy="100000" kx="0" ky="0" algn="bl" rotWithShape="0" blurRad="3.3837617120509443e+33" dist="1.3535046848203775e+33" dir="1.5116544e+40">
              <a:srgbClr val="93A9B8">
                <a:alpha val="3.8000000000000004e+39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3081528" y="786384"/>
            <a:ext cx="54864" cy="17007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9" name="Shape 36"/>
          <p:cNvSpPr/>
          <p:nvPr/>
        </p:nvSpPr>
        <p:spPr>
          <a:xfrm>
            <a:off x="3209544" y="905256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0" name="Text 37"/>
          <p:cNvSpPr/>
          <p:nvPr/>
        </p:nvSpPr>
        <p:spPr>
          <a:xfrm>
            <a:off x="3355848" y="832104"/>
            <a:ext cx="4965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PSO + GPS 双层混合求解 — 黑盒收敛过程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8348472" y="859536"/>
            <a:ext cx="548640" cy="182880"/>
          </a:xfrm>
          <a:prstGeom prst="roundRect">
            <a:avLst>
              <a:gd name="adj" fmla="val 20000"/>
            </a:avLst>
          </a:prstGeom>
          <a:solidFill>
            <a:srgbClr val="EAF1F5"/>
          </a:solidFill>
          <a:ln/>
        </p:spPr>
      </p:sp>
      <p:sp>
        <p:nvSpPr>
          <p:cNvPr id="42" name="Text 39"/>
          <p:cNvSpPr/>
          <p:nvPr/>
        </p:nvSpPr>
        <p:spPr>
          <a:xfrm>
            <a:off x="8348472" y="8595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C72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log-log</a:t>
            </a:r>
            <a:endParaRPr lang="en-US" sz="650" dirty="0"/>
          </a:p>
        </p:txBody>
      </p:sp>
      <p:pic>
        <p:nvPicPr>
          <p:cNvPr id="43" name="Image 0" descr="assets/conv_1520x3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9544" y="1163574"/>
            <a:ext cx="3931920" cy="982980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7306056" y="1170432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B3C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① PSO 全局播种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7306056" y="1316736"/>
            <a:ext cx="1572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A71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60 粒子 × 180 代 · 离散拓扑域探索</a:t>
            </a:r>
            <a:endParaRPr lang="en-US" sz="650" dirty="0"/>
          </a:p>
        </p:txBody>
      </p:sp>
      <p:sp>
        <p:nvSpPr>
          <p:cNvPr id="46" name="Text 42"/>
          <p:cNvSpPr/>
          <p:nvPr/>
        </p:nvSpPr>
        <p:spPr>
          <a:xfrm>
            <a:off x="7306056" y="1481328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95D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② GPS 局部精修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7306056" y="1627632"/>
            <a:ext cx="1572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A71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pattern search · Δ &lt; 10⁻³ 收敛</a:t>
            </a:r>
            <a:endParaRPr lang="en-US" sz="650" dirty="0"/>
          </a:p>
        </p:txBody>
      </p:sp>
      <p:sp>
        <p:nvSpPr>
          <p:cNvPr id="48" name="Text 44"/>
          <p:cNvSpPr/>
          <p:nvPr/>
        </p:nvSpPr>
        <p:spPr>
          <a:xfrm>
            <a:off x="7306056" y="1792224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③ 黑盒不可导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7306056" y="1938528"/>
            <a:ext cx="1572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A71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有限差分梯度失效 → 群智能替代</a:t>
            </a:r>
            <a:endParaRPr lang="en-US" sz="650" dirty="0"/>
          </a:p>
        </p:txBody>
      </p:sp>
      <p:sp>
        <p:nvSpPr>
          <p:cNvPr id="50" name="Text 46"/>
          <p:cNvSpPr/>
          <p:nvPr/>
        </p:nvSpPr>
        <p:spPr>
          <a:xfrm>
            <a:off x="3209544" y="2203704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226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最优 C_ann = 16.2 万 €/a（</a:t>
            </a:r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↓ 23.4% vs 规则基线</a:t>
            </a:r>
            <a:pPr indent="0" marL="0">
              <a:buNone/>
            </a:pPr>
            <a:r>
              <a:rPr lang="en-US" sz="850" b="1" dirty="0">
                <a:solidFill>
                  <a:srgbClr val="1226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）· 总函数评估 11,020 次 · 两段式双对数收敛</a:t>
            </a:r>
            <a:endParaRPr lang="en-US" sz="850" dirty="0"/>
          </a:p>
        </p:txBody>
      </p:sp>
      <p:sp>
        <p:nvSpPr>
          <p:cNvPr id="51" name="Shape 47"/>
          <p:cNvSpPr/>
          <p:nvPr/>
        </p:nvSpPr>
        <p:spPr>
          <a:xfrm>
            <a:off x="3081528" y="2596896"/>
            <a:ext cx="2907792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C"/>
            </a:solidFill>
            <a:prstDash val="solid"/>
          </a:ln>
          <a:effectLst>
            <a:outerShdw sx="100000" sy="100000" kx="0" ky="0" algn="bl" rotWithShape="0" blurRad="4.297377374304699e+37" dist="1.7189509497218795e+37" dir="9.069926400000001e+44">
              <a:srgbClr val="93A9B8">
                <a:alpha val="3.8e+44"/>
              </a:srgbClr>
            </a:outerShdw>
          </a:effectLst>
        </p:spPr>
      </p:sp>
      <p:sp>
        <p:nvSpPr>
          <p:cNvPr id="52" name="Shape 48"/>
          <p:cNvSpPr/>
          <p:nvPr/>
        </p:nvSpPr>
        <p:spPr>
          <a:xfrm>
            <a:off x="3081528" y="2596896"/>
            <a:ext cx="54864" cy="1920240"/>
          </a:xfrm>
          <a:prstGeom prst="rect">
            <a:avLst/>
          </a:prstGeom>
          <a:solidFill>
            <a:srgbClr val="D95D39"/>
          </a:solidFill>
          <a:ln/>
        </p:spPr>
      </p:sp>
      <p:sp>
        <p:nvSpPr>
          <p:cNvPr id="53" name="Shape 49"/>
          <p:cNvSpPr/>
          <p:nvPr/>
        </p:nvSpPr>
        <p:spPr>
          <a:xfrm>
            <a:off x="3209544" y="2715768"/>
            <a:ext cx="91440" cy="91440"/>
          </a:xfrm>
          <a:prstGeom prst="ellipse">
            <a:avLst/>
          </a:prstGeom>
          <a:solidFill>
            <a:srgbClr val="D95D39"/>
          </a:solidFill>
          <a:ln/>
        </p:spPr>
      </p:sp>
      <p:sp>
        <p:nvSpPr>
          <p:cNvPr id="54" name="Text 50"/>
          <p:cNvSpPr/>
          <p:nvPr/>
        </p:nvSpPr>
        <p:spPr>
          <a:xfrm>
            <a:off x="3355848" y="2642616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蓄热容量自主选配</a:t>
            </a:r>
            <a:endParaRPr lang="en-US" sz="1100" dirty="0"/>
          </a:p>
        </p:txBody>
      </p:sp>
      <p:sp>
        <p:nvSpPr>
          <p:cNvPr id="55" name="Shape 51"/>
          <p:cNvSpPr/>
          <p:nvPr/>
        </p:nvSpPr>
        <p:spPr>
          <a:xfrm>
            <a:off x="5330952" y="2670048"/>
            <a:ext cx="548640" cy="182880"/>
          </a:xfrm>
          <a:prstGeom prst="roundRect">
            <a:avLst>
              <a:gd name="adj" fmla="val 20000"/>
            </a:avLst>
          </a:prstGeom>
          <a:solidFill>
            <a:srgbClr val="EAF1F5"/>
          </a:solidFill>
          <a:ln/>
        </p:spPr>
      </p:sp>
      <p:sp>
        <p:nvSpPr>
          <p:cNvPr id="56" name="Text 52"/>
          <p:cNvSpPr/>
          <p:nvPr/>
        </p:nvSpPr>
        <p:spPr>
          <a:xfrm>
            <a:off x="5330952" y="26700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C72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V-cost</a:t>
            </a:r>
            <a:endParaRPr lang="en-US" sz="650" dirty="0"/>
          </a:p>
        </p:txBody>
      </p:sp>
      <p:pic>
        <p:nvPicPr>
          <p:cNvPr id="57" name="Image 1" descr="assets/vcost_660x4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256" y="2935224"/>
            <a:ext cx="1810512" cy="1152144"/>
          </a:xfrm>
          <a:prstGeom prst="rect">
            <a:avLst/>
          </a:prstGeom>
        </p:spPr>
      </p:pic>
      <p:sp>
        <p:nvSpPr>
          <p:cNvPr id="58" name="Text 53"/>
          <p:cNvSpPr/>
          <p:nvPr/>
        </p:nvSpPr>
        <p:spPr>
          <a:xfrm>
            <a:off x="5020056" y="2980944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V* = 275 m³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1226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优化器自主选配蓄热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5A71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拓扑 z 与容量 dv 同层寻优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B3C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C_ann ↓ 11.2%</a:t>
            </a:r>
            <a:endParaRPr lang="en-US" sz="1300" dirty="0"/>
          </a:p>
        </p:txBody>
      </p:sp>
      <p:sp>
        <p:nvSpPr>
          <p:cNvPr id="59" name="Text 54"/>
          <p:cNvSpPr/>
          <p:nvPr/>
        </p:nvSpPr>
        <p:spPr>
          <a:xfrm>
            <a:off x="3191256" y="4169664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5A71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蓄热并非预设项，而是经济性自发涌现的最优解</a:t>
            </a:r>
            <a:endParaRPr lang="en-US" sz="700" dirty="0"/>
          </a:p>
        </p:txBody>
      </p:sp>
      <p:sp>
        <p:nvSpPr>
          <p:cNvPr id="60" name="Shape 55"/>
          <p:cNvSpPr/>
          <p:nvPr/>
        </p:nvSpPr>
        <p:spPr>
          <a:xfrm>
            <a:off x="6099048" y="2596896"/>
            <a:ext cx="2907792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C"/>
            </a:solidFill>
            <a:prstDash val="solid"/>
          </a:ln>
          <a:effectLst>
            <a:outerShdw sx="100000" sy="100000" kx="0" ky="0" algn="bl" rotWithShape="0" blurRad="5.457669265366968e+41" dist="2.183067706146787e+41" dir="5.44195584e+49">
              <a:srgbClr val="93A9B8">
                <a:alpha val="3.8000000000000004e+49"/>
              </a:srgbClr>
            </a:outerShdw>
          </a:effectLst>
        </p:spPr>
      </p:sp>
      <p:sp>
        <p:nvSpPr>
          <p:cNvPr id="61" name="Shape 56"/>
          <p:cNvSpPr/>
          <p:nvPr/>
        </p:nvSpPr>
        <p:spPr>
          <a:xfrm>
            <a:off x="6099048" y="2596896"/>
            <a:ext cx="54864" cy="19202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2" name="Shape 57"/>
          <p:cNvSpPr/>
          <p:nvPr/>
        </p:nvSpPr>
        <p:spPr>
          <a:xfrm>
            <a:off x="6227064" y="2715768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3" name="Text 58"/>
          <p:cNvSpPr/>
          <p:nvPr/>
        </p:nvSpPr>
        <p:spPr>
          <a:xfrm>
            <a:off x="6373368" y="2642616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故障弹性 · 蓄热穿越削峰</a:t>
            </a:r>
            <a:endParaRPr lang="en-US" sz="1100" dirty="0"/>
          </a:p>
        </p:txBody>
      </p:sp>
      <p:sp>
        <p:nvSpPr>
          <p:cNvPr id="64" name="Shape 59"/>
          <p:cNvSpPr/>
          <p:nvPr/>
        </p:nvSpPr>
        <p:spPr>
          <a:xfrm>
            <a:off x="8348472" y="2670048"/>
            <a:ext cx="548640" cy="182880"/>
          </a:xfrm>
          <a:prstGeom prst="roundRect">
            <a:avLst>
              <a:gd name="adj" fmla="val 20000"/>
            </a:avLst>
          </a:prstGeom>
          <a:solidFill>
            <a:srgbClr val="EAF1F5"/>
          </a:solidFill>
          <a:ln/>
        </p:spPr>
      </p:sp>
      <p:sp>
        <p:nvSpPr>
          <p:cNvPr id="65" name="Text 60"/>
          <p:cNvSpPr/>
          <p:nvPr/>
        </p:nvSpPr>
        <p:spPr>
          <a:xfrm>
            <a:off x="8348472" y="26700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C72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 h 故障</a:t>
            </a:r>
            <a:endParaRPr lang="en-US" sz="650" dirty="0"/>
          </a:p>
        </p:txBody>
      </p:sp>
      <p:pic>
        <p:nvPicPr>
          <p:cNvPr id="66" name="Image 2" descr="assets/soc_660x42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2935224"/>
            <a:ext cx="1810512" cy="1152144"/>
          </a:xfrm>
          <a:prstGeom prst="rect">
            <a:avLst/>
          </a:prstGeom>
        </p:spPr>
      </p:pic>
      <p:sp>
        <p:nvSpPr>
          <p:cNvPr id="67" name="Text 61"/>
          <p:cNvSpPr/>
          <p:nvPr/>
        </p:nvSpPr>
        <p:spPr>
          <a:xfrm>
            <a:off x="8037576" y="2980944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+7007 kWh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1226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故障日穿越削峰电量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B3C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COP ≈ 4.6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5A71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全年系统均值</a:t>
            </a:r>
            <a:endParaRPr lang="en-US" sz="1300" dirty="0"/>
          </a:p>
        </p:txBody>
      </p:sp>
      <p:sp>
        <p:nvSpPr>
          <p:cNvPr id="68" name="Text 62"/>
          <p:cNvSpPr/>
          <p:nvPr/>
        </p:nvSpPr>
        <p:spPr>
          <a:xfrm>
            <a:off x="6208776" y="4169664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5A71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故障窗口内 SOC 88%→31%，供热保证率 ε = 0.95 保持</a:t>
            </a:r>
            <a:endParaRPr lang="en-US" sz="700" dirty="0"/>
          </a:p>
        </p:txBody>
      </p:sp>
      <p:sp>
        <p:nvSpPr>
          <p:cNvPr id="69" name="Shape 63"/>
          <p:cNvSpPr/>
          <p:nvPr/>
        </p:nvSpPr>
        <p:spPr>
          <a:xfrm>
            <a:off x="137160" y="4608576"/>
            <a:ext cx="8869680" cy="402336"/>
          </a:xfrm>
          <a:prstGeom prst="rect">
            <a:avLst/>
          </a:prstGeom>
          <a:solidFill>
            <a:srgbClr val="D95D39"/>
          </a:solidFill>
          <a:ln/>
          <a:effectLst>
            <a:outerShdw sx="100000" sy="100000" kx="0" ky="0" algn="bl" rotWithShape="0" blurRad="6.93123996701605e+45" dist="2.7724959868064195e+45" dir="3.2651735040000005e+54">
              <a:srgbClr val="93A9B8">
                <a:alpha val="3.8e+54"/>
              </a:srgbClr>
            </a:outerShdw>
          </a:effectLst>
        </p:spPr>
      </p:sp>
      <p:sp>
        <p:nvSpPr>
          <p:cNvPr id="70" name="Shape 64"/>
          <p:cNvSpPr/>
          <p:nvPr/>
        </p:nvSpPr>
        <p:spPr>
          <a:xfrm>
            <a:off x="137160" y="4608576"/>
            <a:ext cx="566928" cy="402336"/>
          </a:xfrm>
          <a:prstGeom prst="rect">
            <a:avLst/>
          </a:prstGeom>
          <a:solidFill>
            <a:srgbClr val="12263A"/>
          </a:solidFill>
          <a:ln/>
        </p:spPr>
      </p:sp>
      <p:sp>
        <p:nvSpPr>
          <p:cNvPr id="71" name="Text 65"/>
          <p:cNvSpPr/>
          <p:nvPr/>
        </p:nvSpPr>
        <p:spPr>
          <a:xfrm>
            <a:off x="137160" y="460857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 论</a:t>
            </a:r>
            <a:endParaRPr lang="en-US" sz="1000" dirty="0"/>
          </a:p>
        </p:txBody>
      </p:sp>
      <p:sp>
        <p:nvSpPr>
          <p:cNvPr id="72" name="Text 66"/>
          <p:cNvSpPr/>
          <p:nvPr/>
        </p:nvSpPr>
        <p:spPr>
          <a:xfrm>
            <a:off x="822960" y="4608576"/>
            <a:ext cx="809244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不预设任何设备配置 —— 优化器在严苛约束下算真实经济账，自发得出最优拓扑与蓄热容量 </a:t>
            </a:r>
            <a:pPr indent="0" marL="0">
              <a:buNone/>
            </a:pPr>
            <a:r>
              <a:rPr lang="en-US" sz="1050" b="1" dirty="0">
                <a:solidFill>
                  <a:srgbClr val="FFE3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V* = 275 m³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2026-10-20T06:58:25Z</dcterms:created>
  <dcterms:modified xsi:type="dcterms:W3CDTF">2026-10-20T06:58:25Z</dcterms:modified>
</cp:coreProperties>
</file>